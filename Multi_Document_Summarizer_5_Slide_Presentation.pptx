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Planned test cases</c:v>
                </c:pt>
              </c:strCache>
            </c:strRef>
          </c:tx>
          <c:spPr>
            <a:solidFill>
              <a:srgbClr val="3068BE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PDF</c:v>
                </c:pt>
                <c:pt idx="1">
                  <c:v>DOCX</c:v>
                </c:pt>
                <c:pt idx="2">
                  <c:v>Spreadsheet</c:v>
                </c:pt>
                <c:pt idx="3">
                  <c:v>Image</c:v>
                </c:pt>
                <c:pt idx="4">
                  <c:v>Audio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  <c:majorUnit val="2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2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961120" y="640080"/>
            <a:ext cx="2011680" cy="2011680"/>
          </a:xfrm>
          <a:prstGeom prst="round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058400" y="2011680"/>
            <a:ext cx="1371600" cy="1371600"/>
          </a:xfrm>
          <a:prstGeom prst="roundRect">
            <a:avLst/>
          </a:prstGeom>
          <a:solidFill>
            <a:srgbClr val="1CA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2743200"/>
            <a:ext cx="1188720" cy="1188720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326880" y="3840480"/>
            <a:ext cx="2377440" cy="1463040"/>
          </a:xfrm>
          <a:prstGeom prst="roundRect">
            <a:avLst/>
          </a:prstGeom>
          <a:solidFill>
            <a:srgbClr val="25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722376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MULTI-DOCUMENT
SUMMARIZER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6949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C3D3E9"/>
                </a:solidFill>
                <a:latin typeface="Aptos"/>
              </a:rPr>
              <a:t>A multi-format content summarization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6949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A0B5D2"/>
                </a:solidFill>
                <a:latin typeface="Aptos"/>
              </a:rPr>
              <a:t>Project overview • Workflow • Technology •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Prepared by: Prakash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62239"/>
                </a:solidFill>
                <a:latin typeface="Aptos"/>
              </a:rPr>
              <a:t>01  |  Problem &amp;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82"/>
                </a:solidFill>
                <a:latin typeface="Aptos"/>
              </a:rPr>
              <a:t>Turning scattered files into one clear, useful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9164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91640"/>
            <a:ext cx="82296" cy="333756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37944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62239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3445"/>
                </a:solidFill>
                <a:latin typeface="Aptos"/>
              </a:rPr>
              <a:t>• Information is spread across PDFs, Word files, spreadsheets, images and audio.
• Reading each item takes time.
• Important facts and connections can be missed.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9164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91640"/>
            <a:ext cx="82296" cy="3337560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37944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62239"/>
                </a:solidFill>
                <a:latin typeface="Aptos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58568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3445"/>
                </a:solidFill>
                <a:latin typeface="Aptos"/>
              </a:rPr>
              <a:t>• Upload multiple documents in one place.
• Extract text from each supported format.
• Generate key points, an overview and a detailed 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691640"/>
            <a:ext cx="342900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691640"/>
            <a:ext cx="82296" cy="3337560"/>
          </a:xfrm>
          <a:prstGeom prst="rect">
            <a:avLst/>
          </a:prstGeom>
          <a:solidFill>
            <a:srgbClr val="1CA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837944"/>
            <a:ext cx="3017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62239"/>
                </a:solidFill>
                <a:latin typeface="Aptos"/>
              </a:rPr>
              <a:t>Expected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258568"/>
            <a:ext cx="30175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3445"/>
                </a:solidFill>
                <a:latin typeface="Aptos"/>
              </a:rPr>
              <a:t>• Faster review of large information sets.
• Consistent summaries across files.
• Easier discovery of repeated themes and useful connections.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241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62239"/>
                </a:solidFill>
                <a:latin typeface="Aptos"/>
              </a:rPr>
              <a:t>Goal: reduce manual reading while keeping the source information accessible.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82"/>
                </a:solidFill>
                <a:latin typeface="Aptos"/>
              </a:rPr>
              <a:t>02 / 05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62239"/>
                </a:solidFill>
                <a:latin typeface="Aptos"/>
              </a:rPr>
              <a:t>02  | 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82"/>
                </a:solidFill>
                <a:latin typeface="Aptos"/>
              </a:rPr>
              <a:t>A modular pipeline from uploaded files to readable insights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48840"/>
            <a:ext cx="1737360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5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691640"/>
            <a:ext cx="548640" cy="548640"/>
          </a:xfrm>
          <a:prstGeom prst="ellipse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00784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87168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239"/>
                </a:solidFill>
                <a:latin typeface="Aptos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063240"/>
            <a:ext cx="15179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3445"/>
                </a:solidFill>
                <a:latin typeface="Aptos"/>
              </a:rPr>
              <a:t>PDF • DOCX • XLSX
TXT • CSV • Audio •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290779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47082"/>
                </a:solidFill>
                <a:latin typeface="Aptos"/>
              </a:rPr>
              <a:t>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2148840"/>
            <a:ext cx="1737360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5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2152" y="1691640"/>
            <a:ext cx="548640" cy="548640"/>
          </a:xfrm>
          <a:prstGeom prst="ellipse">
            <a:avLst/>
          </a:prstGeom>
          <a:solidFill>
            <a:srgbClr val="1CA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2152" y="1700784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487168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239"/>
                </a:solidFill>
                <a:latin typeface="Aptos"/>
              </a:rPr>
              <a:t>Extract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063240"/>
            <a:ext cx="15179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3445"/>
                </a:solidFill>
                <a:latin typeface="Aptos"/>
              </a:rPr>
              <a:t>File parsers
OCR / speech-to-text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0779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47082"/>
                </a:solidFill>
                <a:latin typeface="Aptos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21224" y="2148840"/>
            <a:ext cx="1737360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5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15584" y="1691640"/>
            <a:ext cx="548640" cy="548640"/>
          </a:xfrm>
          <a:prstGeom prst="ellipse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4" y="1700784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384" y="2487168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239"/>
                </a:solidFill>
                <a:latin typeface="Aptos"/>
              </a:rPr>
              <a:t>Process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063240"/>
            <a:ext cx="15179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3445"/>
                </a:solidFill>
                <a:latin typeface="Aptos"/>
              </a:rPr>
              <a:t>Clean text
Split into sentences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290779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47082"/>
                </a:solidFill>
                <a:latin typeface="Aptos"/>
              </a:rPr>
              <a:t>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34656" y="2148840"/>
            <a:ext cx="1737360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5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29016" y="1691640"/>
            <a:ext cx="548640" cy="548640"/>
          </a:xfrm>
          <a:prstGeom prst="ellipse">
            <a:avLst/>
          </a:prstGeom>
          <a:solidFill>
            <a:srgbClr val="1CA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9016" y="1700784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6" y="2487168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239"/>
                </a:solidFill>
                <a:latin typeface="Aptos"/>
              </a:rPr>
              <a:t>Summarize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44383" y="3063240"/>
            <a:ext cx="15179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3445"/>
                </a:solidFill>
                <a:latin typeface="Aptos"/>
              </a:rPr>
              <a:t>Rank key sentences
Create summaries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0304" y="2907792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647082"/>
                </a:solidFill>
                <a:latin typeface="Aptos"/>
              </a:rPr>
              <a:t>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48088" y="2148840"/>
            <a:ext cx="1737360" cy="2240280"/>
          </a:xfrm>
          <a:prstGeom prst="roundRect">
            <a:avLst/>
          </a:prstGeom>
          <a:solidFill>
            <a:srgbClr val="F1F6FC"/>
          </a:solidFill>
          <a:ln>
            <a:solidFill>
              <a:srgbClr val="D5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42448" y="1691640"/>
            <a:ext cx="548640" cy="548640"/>
          </a:xfrm>
          <a:prstGeom prst="ellipse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42448" y="1700784"/>
            <a:ext cx="54864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2487168"/>
            <a:ext cx="146304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62239"/>
                </a:solidFill>
                <a:latin typeface="Aptos"/>
              </a:rPr>
              <a:t>Present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5" y="3063240"/>
            <a:ext cx="151790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2B3445"/>
                </a:solidFill>
                <a:latin typeface="Aptos"/>
              </a:rPr>
              <a:t>Overview • Key points
Detailed summary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0">
                <a:solidFill>
                  <a:srgbClr val="647082"/>
                </a:solidFill>
                <a:latin typeface="Aptos"/>
              </a:rPr>
              <a:t>Design principle: each stage can be tested and improved independently.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82"/>
                </a:solidFill>
                <a:latin typeface="Aptos"/>
              </a:rPr>
              <a:t>03 / 05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62239"/>
                </a:solidFill>
                <a:latin typeface="Aptos"/>
              </a:rPr>
              <a:t>03  |  Architecture &amp;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82"/>
                </a:solidFill>
                <a:latin typeface="Aptos"/>
              </a:rPr>
              <a:t>Separate the interface, processing services and summarization logic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508760"/>
            <a:ext cx="98755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61848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3068BE"/>
                </a:solidFill>
                <a:latin typeface="Aptos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618488"/>
            <a:ext cx="7269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Aptos"/>
              </a:rPr>
              <a:t>React • Vite • TypeScript / Tailwind CSS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2788920"/>
            <a:ext cx="98755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289864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CA69C"/>
                </a:solidFill>
                <a:latin typeface="Aptos"/>
              </a:rP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898648"/>
            <a:ext cx="7269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Aptos"/>
              </a:rPr>
              <a:t>FastAPI • Python • File validation and routing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069080"/>
            <a:ext cx="987552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9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4178808"/>
            <a:ext cx="2148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9E42"/>
                </a:solidFill>
                <a:latin typeface="Aptos"/>
              </a:rPr>
              <a:t>PROCESSING &amp;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4178808"/>
            <a:ext cx="7269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Aptos"/>
              </a:rPr>
              <a:t>PyPDF2 • python-docx • pandas • pytesseract • faster-whisper • Transformers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5486400"/>
            <a:ext cx="1097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162239"/>
                </a:solidFill>
                <a:latin typeface="Aptos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5413248"/>
            <a:ext cx="8503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B3445"/>
                </a:solidFill>
                <a:latin typeface="Aptos"/>
              </a:rPr>
              <a:t>Structured summary response: overall review • per-document insights • comprehensive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82"/>
                </a:solidFill>
                <a:latin typeface="Aptos"/>
              </a:rPr>
              <a:t>04 / 05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62239"/>
                </a:solidFill>
                <a:latin typeface="Aptos"/>
              </a:rPr>
              <a:t>04  |  Evaluation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789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647082"/>
                </a:solidFill>
                <a:latin typeface="Aptos"/>
              </a:rPr>
              <a:t>Illustrative test coverage and a roadmap for improvement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120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239"/>
                </a:solidFill>
                <a:latin typeface="Aptos"/>
              </a:rPr>
              <a:t>Example coverage by input type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965960"/>
          <a:ext cx="566928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812280" y="1691640"/>
            <a:ext cx="4617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12280" y="1691640"/>
            <a:ext cx="82296" cy="1234440"/>
          </a:xfrm>
          <a:prstGeom prst="rect">
            <a:avLst/>
          </a:prstGeom>
          <a:solidFill>
            <a:srgbClr val="1CA6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0" y="1837944"/>
            <a:ext cx="4206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62239"/>
                </a:solidFill>
                <a:latin typeface="Aptos"/>
              </a:rPr>
              <a:t>Validate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25856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3445"/>
                </a:solidFill>
                <a:latin typeface="Aptos"/>
              </a:rPr>
              <a:t>Check extraction accuracy, summary relevance and handling of empty or unsupported 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3108960"/>
            <a:ext cx="4617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12280" y="3108960"/>
            <a:ext cx="82296" cy="1234440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3255264"/>
            <a:ext cx="4206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62239"/>
                </a:solidFill>
                <a:latin typeface="Aptos"/>
              </a:rPr>
              <a:t>Improve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3675887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3445"/>
                </a:solidFill>
                <a:latin typeface="Aptos"/>
              </a:rPr>
              <a:t>Add evaluation metrics, long-document chunking and stronger error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4526280"/>
            <a:ext cx="46177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4526280"/>
            <a:ext cx="82296" cy="1234440"/>
          </a:xfrm>
          <a:prstGeom prst="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4672584"/>
            <a:ext cx="420624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162239"/>
                </a:solidFill>
                <a:latin typeface="Aptos"/>
              </a:rPr>
              <a:t>Extend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509320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B3445"/>
                </a:solidFill>
                <a:latin typeface="Aptos"/>
              </a:rPr>
              <a:t>Add user accounts, export options and configurable summary length.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5669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Aptos"/>
              </a:rPr>
              <a:t>Note: chart values are illustrative planning figures, not measured results.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46520"/>
            <a:ext cx="7315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0">
                <a:solidFill>
                  <a:srgbClr val="647082"/>
                </a:solidFill>
                <a:latin typeface="Aptos"/>
              </a:rPr>
              <a:t>05 / 05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